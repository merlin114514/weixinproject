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51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下午好！我是[你的姓名]，今天我将向大家汇报我的课程项目——“校园微信小助手”。这个项目旨在通过技术的力量，连接信息孤岛，简化师生生活，让校园服务触手可及。接下来，我将从项目背景、需求分析、系统设计、核心功能、测试与总结六个方面，详细介绍我们的项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答辩将围绕六个核心部分展开。首先，我会介绍项目的背景与意义，阐述我们为何要做这个项目。接着，会详细说明我们进行的需求分析。然后，是关于系统的整体设计方案。之后，我会展示项目的核心功能。第五部分是项目的测试情况和结果。最后，对整个项目进行总结并对未来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启动之初，我们观察到当前校园信息服务存在三大挑战。首先是信息过载与分散，学生每天要关注多个信息渠道，效率低下。其次是沟通渠道不畅，师生间的沟通依赖临时群组，缺乏规范平台。最后是校园服务体验不佳，特别是对于新生，寻找地点和查询信息非常不便。这些痛点正是我们项目所要解决的核心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挑战，“校园微信小助手”应运而生。它为学生提供了一站式的信息获取和生活服务平台，大大提升了效率和体验。对于学校而言，它优化了管理效率和资源配置，提升了服务形象。从技术角度看，这个项目也是一次非常宝贵的全栈开发实践，探索了校园数字化转型的可能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需求分析阶段，我们通过问卷调查和用户访谈，确定了四大核心功能模块。包括负责身份认证的用户中心，提供课表、通知和活动的信息服务，包含导航、AI问答等实用工具的校园工具，以及用于后台管理的模块。这些功能覆盖了师生在校期间的主要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功能需求，我们还定义了严格的非功能需求，以确保系统的稳定性和用户体验。这包括性能、易用性、可靠性、安全性和可扩展性五个方面。例如，我们要求核心功能加载时间在2秒以内，系统可用性达到99.9%，并对用户数据进行加密存储，这些都为项目的高质量交付提供了保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系统设计上，我们采用了经典的三层架构。表现层是微信小程序，负责界面展示；业务逻辑层是云函数，处理所有业务逻辑；数据访问层是云数据库，负责数据存储。这种架构基于微信云开发，实现了全栈一体化，开发效率高，并且能够弹性伸缩，保证了系统的高可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根据需求分析，我们将系统划分为四大核心模块：用户模块、信息模块、工具模块和管理模块。这种模块化的设计，使得各个功能职责清晰，便于开发和维护，也为未来的功能扩展打下了良好基础。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库方面，我们选用了云开发的NoSQL数据库。设计了用户、课表、通知、活动和校园地图点等核心集合。每个集合都包含了必要的字段，以支持相应的业务逻辑。例如，用户集合存储了用户的基本信息和角色，课表集合则关联了用户ID和具体的课程信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核心功能展示。首先是课表查询功能。用户可以手动添加或未来通过导入的方式创建个人课表。我们提供了多种视图，方便用户查看。更重要的是，系统会在课前进行智能提醒，帮助用户不错过任何课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第二个核心功能是活动发布与报名。这个功能旨在解决社团活动宣传难、报名统计繁琐的问题。负责人可以便捷地发布活动，用户可以一键报名，活动现场还支持扫码签到，大大提高了活动组织和参与的效率。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第三个功能是校园导航。我们基于地图SDK，为校园绘制了高精度地图。用户可以通过关键词搜索快速找到目的地，并进行路线规划。这个功能对于新生和访客来说非常实用，解决了他们在校园内“迷路”的痛点。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我们的亮点功能——AI智能问答。用户可以通过自然语言向小程序提问关于校园的各种问题。我们结合了自建的校园知识库和外部大语言模型，确保了答案的准确性和相关性。它就像一个7x24小时在线的校园向导，随时为用户解答疑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证项目质量，我们进行了全面的测试。包括覆盖所有功能点的功能测试，确保在不同设备上表现一致的兼容性测试，以及关注启动速度和加载时间的性能测试。测试结果表明，系统的核心功能稳定，兼容性良好，性能也达到了预期目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测试中我们也发现了一些问题，并进行了修复。例如，针对特定机型下课表显示错乱的问题，我们优化了布局样式。对于AI问答接口超时的问题，我们增加了缓存和重试机制。对于活动报名人数不实时的问题，我们引入了数据库的实时监听功能。通过这些迭代，系统的稳定性和用户体验得到了显著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项目进行总结。通过这次开发，我们不仅在技术上得到了锻炼，提升了全栈开发能力，也在团队协作和问题解决方面有所成长。项目成功上线并获得了积极反馈。当然，项目还有很多可以优化的地方，未来我们希望能对接教务系统，增加更多社交功能，并探索AR导航等新技术，进一步完善和扩展这个平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22.svg"/><Relationship Id="rId3" Type="http://schemas.openxmlformats.org/officeDocument/2006/relationships/image" Target="../media/image33.jpeg"/><Relationship Id="rId7" Type="http://schemas.openxmlformats.org/officeDocument/2006/relationships/image" Target="../media/image37.sv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5" Type="http://schemas.openxmlformats.org/officeDocument/2006/relationships/image" Target="../media/image43.sv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svg"/><Relationship Id="rId1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1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47.svg"/><Relationship Id="rId4" Type="http://schemas.openxmlformats.org/officeDocument/2006/relationships/image" Target="../media/image14.svg"/><Relationship Id="rId9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Relationship Id="rId9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60.jpeg"/><Relationship Id="rId7" Type="http://schemas.openxmlformats.org/officeDocument/2006/relationships/image" Target="../media/image6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4" Type="http://schemas.openxmlformats.org/officeDocument/2006/relationships/image" Target="../media/image61.png"/><Relationship Id="rId9" Type="http://schemas.openxmlformats.org/officeDocument/2006/relationships/image" Target="../media/image1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6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6.svg"/><Relationship Id="rId9" Type="http://schemas.openxmlformats.org/officeDocument/2006/relationships/image" Target="../media/image6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6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69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svg"/><Relationship Id="rId13" Type="http://schemas.openxmlformats.org/officeDocument/2006/relationships/image" Target="../media/image36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1.svg"/><Relationship Id="rId11" Type="http://schemas.openxmlformats.org/officeDocument/2006/relationships/image" Target="../media/image19.png"/><Relationship Id="rId5" Type="http://schemas.openxmlformats.org/officeDocument/2006/relationships/image" Target="../media/image80.png"/><Relationship Id="rId10" Type="http://schemas.openxmlformats.org/officeDocument/2006/relationships/image" Target="../media/image41.svg"/><Relationship Id="rId4" Type="http://schemas.openxmlformats.org/officeDocument/2006/relationships/image" Target="../media/image79.svg"/><Relationship Id="rId9" Type="http://schemas.openxmlformats.org/officeDocument/2006/relationships/image" Target="../media/image40.png"/><Relationship Id="rId14" Type="http://schemas.openxmlformats.org/officeDocument/2006/relationships/image" Target="../media/image3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校园微信小助手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270000" y="546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5143500" y="5016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4699000" y="546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8572500" y="5016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8128000" y="546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762000"/>
            <a:ext cx="2540000" cy="2540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334000"/>
            <a:ext cx="1905000" cy="1905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095500"/>
            <a:ext cx="558800" cy="5588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2095500"/>
            <a:ext cx="558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14500" y="1930400"/>
            <a:ext cx="412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项目背景与意义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剖析行业痛点与发展机遇，阐述项目发起的初衷与核心价值，明确其在实际应用中的长远影响与社会价值。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350000" y="1778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540500" y="2095500"/>
            <a:ext cx="558800" cy="5588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540500" y="2095500"/>
            <a:ext cx="558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302500" y="1930400"/>
            <a:ext cx="412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深度挖掘用户核心诉求与业务场景，系统拆解功能与非功能需求，构建清晰、可落地的产品需求规格说明书。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32766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52500" y="3594100"/>
            <a:ext cx="558800" cy="5588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52500" y="3594100"/>
            <a:ext cx="558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714500" y="3429000"/>
            <a:ext cx="412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从整体架构规划到数据库表结构设计，详解系统的模块化划分、技术选型思路与高可用、高扩展性的设计细节。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350000" y="32766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540500" y="3594100"/>
            <a:ext cx="558800" cy="5588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540500" y="3594100"/>
            <a:ext cx="558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302500" y="3429000"/>
            <a:ext cx="412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核心功能展示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聚焦四大核心功能模块，通过实际演示与流程解析，直观呈现产品的核心竞争力与用户体验亮点。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62000" y="47752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52500" y="5092700"/>
            <a:ext cx="558800" cy="5588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52500" y="5092700"/>
            <a:ext cx="558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714500" y="4927600"/>
            <a:ext cx="412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测试与结果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构建全方位质量保障体系，解析测试用例设计与执行流程，展示Bug修复闭环机制与最终验收的质量成果。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350000" y="47752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540500" y="5092700"/>
            <a:ext cx="558800" cy="5588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540500" y="5092700"/>
            <a:ext cx="558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302500" y="4927600"/>
            <a:ext cx="412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全面复盘项目成果与开发过程中的经验教训，客观剖析现存不足，并对产品未来的迭代方向与应用拓展进行规划。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2C55E">
              <a:alpha val="5000"/>
            </a:srgbClr>
          </a:solidFill>
          <a:ln cap="flat" cmpd="sng">
            <a:solidFill>
              <a:srgbClr val="0CAC47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22C55E">
              <a:alpha val="5000"/>
            </a:srgbClr>
          </a:solidFill>
          <a:ln cap="flat" cmpd="sng">
            <a:solidFill>
              <a:srgbClr val="0CAC47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项目背景：我们面临的挑战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22C55E">
              <a:alpha val="7000"/>
            </a:srgbClr>
          </a:solidFill>
          <a:ln cap="flat" cmpd="sng">
            <a:solidFill>
              <a:srgbClr val="0CAC47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0320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信息过载与分散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8575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▍核心现象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官网、公众号、班级群等渠道繁杂，通知分散，重要信息极易被海量消息淹没。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16000" y="41275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▍关键痛点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学生被迫多平台切换，筛选信息耗时耗力，获取效率低下，常遗漏关键通知。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381500" y="1778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22C55E">
              <a:alpha val="7000"/>
            </a:srgbClr>
          </a:solidFill>
          <a:ln cap="flat" cmpd="sng">
            <a:solidFill>
              <a:srgbClr val="0CAC47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5500" y="2032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07000" y="20320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沟通渠道不畅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28575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▍核心现象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师生与组织间依赖临时微信群沟通，缺乏统一、标准化的互动与管理平台。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635500" y="41275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▍关键痛点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活动报名与咨询流程繁琐，信息同步滞后，沟通效率低且易产生信息误差。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001000" y="1778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22C55E">
              <a:alpha val="7000"/>
            </a:srgbClr>
          </a:solidFill>
          <a:ln cap="flat" cmpd="sng">
            <a:solidFill>
              <a:srgbClr val="0CAC47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55000" y="2032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26500" y="20320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校园服务体验不佳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28575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▍核心现象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新生对校园布局陌生，传统纸质指南更新慢，缺乏动态的设施指引与查询。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255000" y="41275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▍关键痛点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线下问路不便，线上指南交互性差，无法满足实时导航、设施状态查询需求。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62000" y="5651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52500" y="577850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这些碎片化、非标准化的校园服务现状，不仅降低了师生的校园生活效率，更制约了校园信息化的发展，这正是我们打造一站式智慧校园服务平台的核心动力与切入点。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项目意义：我们的解决方案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00200" y="2095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面向学生群体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5211">
            <a:off x="1016014" y="2724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2921000"/>
            <a:ext cx="299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📈 效率跃升：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聚合零散信息，实现个性化订阅与智能推送，让校园资讯触手可及。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746500"/>
            <a:ext cx="299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✨ 体验升级：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集成课表查询、空教室搜索与校园导航，打造一站式便捷服务入口。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635500"/>
            <a:ext cx="299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🤝 互动升温：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线上活动发布与一键报名，激活校园社群活力，增强学生参与感。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06900" y="1778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406900" y="1778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900" y="2095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245100" y="2095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赋能校园管理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4660914" y="2724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660900" y="2921000"/>
            <a:ext cx="299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⚡ 管理增效：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建立高效的信息发布与反馈闭环，简化行政流程，降低沟通成本。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60900" y="3746500"/>
            <a:ext cx="299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📊 科学决策：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基于平台数据沉淀，为校园资源优化配置与规划提供有力的数据支撑。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60900" y="4635500"/>
            <a:ext cx="299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🏛️ 形象焕新：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打造现代化、智能化的校园服务窗口，提升学校的对外服务形象。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051800" y="1778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051800" y="1778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05800" y="20955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890000" y="2095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沉淀技术价值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5211">
            <a:off x="8305814" y="2724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305800" y="2921000"/>
            <a:ext cx="299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💻 全栈实战：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涵盖前端交互设计、后端逻辑开发与数据库架构，完成完整的项目闭环。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05800" y="3746500"/>
            <a:ext cx="299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🌐 数智探索：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以真实校园场景为驱动，探索数字化转型的落地路径与实践案例。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305800" y="4635500"/>
            <a:ext cx="299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🚀 创新基座：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构建可扩展的技术框架，为后续智慧校园功能的持续迭代奠定基础。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5778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89000" y="59055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核心愿景：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以技术为笔，以需求为墨，构建连接师生、服务校园、驱动创新的智慧化生态桥梁。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需求分析：功能需求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cap="flat" cmpd="sng">
            <a:solidFill>
              <a:srgbClr val="0CAC4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0800" cy="2159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1905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14500" y="1930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用户中心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" y="2476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构建平台的基础身份体系，支持手机号/学号的注册与登录，提供个人信息的完善、密码管理及账号安全保障，是所有服务的统一入口。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9500" y="3302000"/>
            <a:ext cx="4699000" cy="3556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206500" y="33528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适用角色：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全体注册用户（学生、教职工、访客）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86500" y="1651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cap="flat" cmpd="sng">
            <a:solidFill>
              <a:srgbClr val="0CAC4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286500" y="1651000"/>
            <a:ext cx="50800" cy="2159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1905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239000" y="1930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信息服务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0" y="2476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聚合校园核心资讯，提供智能课表查询与提醒、官方通知实时推送，以及校园活动的在线发布、报名管理与互动，打破信息壁垒。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3302000"/>
            <a:ext cx="4699000" cy="3556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731000" y="33528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适用角色：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在校学生、教职员工、活动组织者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1275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cap="flat" cmpd="sng">
            <a:solidFill>
              <a:srgbClr val="0CAC4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4127500"/>
            <a:ext cx="50800" cy="2159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500" y="43815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714500" y="44069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校园工具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79500" y="4953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聚焦校园生活痛点，集成实景校园导航、基于AI的智能问答助手、实时空教室查询与自习室预约功能，全方位提升校园生活便利性。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79500" y="5778500"/>
            <a:ext cx="4699000" cy="3556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206500" y="58293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适用角色：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全体在校师生、访客及潜在新生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86500" y="41275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cap="flat" cmpd="sng">
            <a:solidFill>
              <a:srgbClr val="0CAC4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286500" y="4127500"/>
            <a:ext cx="50800" cy="2159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4381500"/>
            <a:ext cx="457200" cy="4572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239000" y="44069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后台管理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604000" y="4953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为平台提供高效运营支撑，实现多角色权限管理、内容审核与发布、用户行为数据分析、系统配置与监控，确保平台安全稳定运行。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604000" y="5778500"/>
            <a:ext cx="4699000" cy="3556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731000" y="58293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适用角色：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系统管理员、内容运营专员、数据分析师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需求分析：非功能需求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78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33782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1879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71600" y="18542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性能 Performance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65200" y="2362200"/>
            <a:ext cx="29718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核心功能页面加载时间控制在2秒以内，确保流畅体验；系统架构支持至少500人同时在线并发操作，从容应对业务高峰。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1651000"/>
            <a:ext cx="3378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06900" y="1651000"/>
            <a:ext cx="33782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0100" y="1879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16500" y="18542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易用性 Usability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10100" y="2362200"/>
            <a:ext cx="29718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界面设计遵循直观简约原则，贴合用户日常操作习惯；新用户无需额外学习成本即可快速上手，显著降低使用门槛。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51800" y="1651000"/>
            <a:ext cx="3378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051800" y="1651000"/>
            <a:ext cx="33782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55000" y="1879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61400" y="18542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可靠性 Reliability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55000" y="2362200"/>
            <a:ext cx="29718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核心业务功能可用性达到99.9%的高标准，保障服务连续性；在网络波动等异常场景下，系统具备良好的容错能力并给予用户清晰提示。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064000"/>
            <a:ext cx="3378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62000" y="4064000"/>
            <a:ext cx="33782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200" y="4292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371600" y="42672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安全性 Security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65200" y="4775200"/>
            <a:ext cx="29718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用户敏感数据采用高强度加密算法进行存储与传输，杜绝信息泄露风险；建立严格的权限访问控制体系，确保数据访问的合规性与安全性。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406900" y="4064000"/>
            <a:ext cx="3378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4406900" y="4064000"/>
            <a:ext cx="33782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10100" y="42926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5016500" y="42672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05 可扩展性 Scalability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610100" y="4775200"/>
            <a:ext cx="29718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系统采用松耦合的模块化架构设计，能够灵活应对未来的业务扩展需求；支持新功能的快速集成与部署，降低系统迭代的成本与周期。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051800" y="4064000"/>
            <a:ext cx="3378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55000" y="42926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8661400" y="42672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质量与体验基石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255000" y="4775200"/>
            <a:ext cx="29718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非功能需求是保障系统长期稳定运行、提升用户满意度的关键。它从技术层面为产品体验、数据安全和业务增长提供了坚实的支撑与保障。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系统设计：总体架构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1007" r="1007"/>
          <a:stretch>
            <a:fillRect/>
          </a:stretch>
        </p:blipFill>
        <p:spPr>
          <a:xfrm>
            <a:off x="762000" y="1524000"/>
            <a:ext cx="4572000" cy="2667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4445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基于云原生的经典三层架构设计，打通设备接入、逻辑处理与数据存储，确保系统具备高内聚、低耦合的特性，支撑业务灵活扩展。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1524000"/>
            <a:ext cx="5969000" cy="11684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715000" y="1524000"/>
            <a:ext cx="50800" cy="1168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17018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413500" y="1676400"/>
            <a:ext cx="520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表现层 (Presentation Layer)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13500" y="2082800"/>
            <a:ext cx="520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微信小程序原生框架 (WXML / WXSS / JS)，轻量高效，即点即用。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核心职责：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负责用户界面动态渲染与交互响应，提供流畅的移动端操作体验。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715000" y="2870200"/>
            <a:ext cx="5969000" cy="11684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715000" y="2870200"/>
            <a:ext cx="50800" cy="1168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3600" y="3048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413500" y="3022600"/>
            <a:ext cx="520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业务逻辑层 (Business Logic Layer)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13500" y="3429000"/>
            <a:ext cx="520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微信云开发 Cloud Functions (Node.js 环境)，无服务器运维。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核心职责：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封装业务规则，处理数据校验、第三方API调用及复杂计算逻辑。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715000" y="4216400"/>
            <a:ext cx="5969000" cy="11684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715000" y="4216400"/>
            <a:ext cx="50800" cy="1168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43600" y="43942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413500" y="4368800"/>
            <a:ext cx="520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数据访问层 (Data Access Layer)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13500" y="4775200"/>
            <a:ext cx="520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云开发 NoSQL 数据库，支持JSON格式与自动索引。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核心职责：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负责业务数据的持久化存储、安全管理与高效读写，支持海量并发。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588000"/>
            <a:ext cx="34671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5200" y="57531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371600" y="56896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全栈一体化开发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端云协同，统一开发运维，大幅降低技术门槛与沟通成本。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4356100" y="5588000"/>
            <a:ext cx="34671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59300" y="57531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4965700" y="56896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极致开发效率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免运维部署，支持热更新与快速迭代，缩短产品上线周期。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7950200" y="5588000"/>
            <a:ext cx="34671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53400" y="57531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8559800" y="56896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弹性伸缩架构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资源按需自动分配，从容应对流量洪峰，保障系统高可用性。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系统设计：功能模块划分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系统在逻辑上划分为四大核心模块，各模块间通过定义良好的接口进行通信，实现功能解耦与高效协作，为系统的稳定运行与灵活扩展奠定坚实基础。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508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6416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25600" y="2641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用户模块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66800" y="3175000"/>
            <a:ext cx="4597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负责用户的身份认证、个人信息管理及角色权限控制，构建安全可靠的用户体系，确保账号安全与访问权限的精细化管理。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413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223000" y="2413000"/>
            <a:ext cx="508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7800" y="26416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086600" y="2641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信息模块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27800" y="3175000"/>
            <a:ext cx="4597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聚合课表查询、校园通知、校园活动三大核心信息流，实现信息的统一分发与个性化展示，打造一站式校园信息交互平台。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318000"/>
            <a:ext cx="508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6800" y="45466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25600" y="4546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工具模块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66800" y="5080000"/>
            <a:ext cx="4597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集成校园导航、智能AI问答、空教室实时查询等实用工具，贴合师生日常校园生活场景，提供便捷高效的数字化服务体验。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4318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223000" y="4318000"/>
            <a:ext cx="508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27800" y="45466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086600" y="4546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管理模块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527800" y="5080000"/>
            <a:ext cx="4597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为管理员提供可视化后台操作界面，支持内容审核、用户权限配置、数据统计分析等功能，实现平台的高效运维与智能化管理。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762000"/>
            <a:ext cx="2540000" cy="2540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508000" y="5588000"/>
            <a:ext cx="1524000" cy="1524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系统设计：数据库设计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采用高性能非关系型数据库（NoSQL）构建灵活的数据存储层，针对校园服务场景设计五大核心数据集合，保障数据的高效读写与业务扩展性。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489200"/>
            <a:ext cx="50800" cy="304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39800" y="2463800"/>
            <a:ext cx="3124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users · 用户核心档案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39800" y="2946400"/>
            <a:ext cx="3124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融合微信生态与校园身份体系，存储用户基础信息与权限角色，是系统的身份认证基石。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关键字段：_id, openid, nickName, studentId, role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286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81500" y="2489200"/>
            <a:ext cx="50800" cy="304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59300" y="2463800"/>
            <a:ext cx="3124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timetables · 个性化课表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59300" y="2946400"/>
            <a:ext cx="3124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按用户维度聚合课程数据，支持动态更新与多端实时同步，满足个性化的日程展示需求。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关键字段：_id, userId, courses[Array], updatedAt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2286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001000" y="2489200"/>
            <a:ext cx="50800" cy="304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78800" y="2463800"/>
            <a:ext cx="3124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notices · 校园通知公告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78800" y="2946400"/>
            <a:ext cx="3124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承载校务通知、学院公告等重要信息，支持置顶、发布人溯源及按时间线倒序展示。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关键字段：_id, title, content, publisher, isTop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3815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62000" y="4584700"/>
            <a:ext cx="50800" cy="304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39800" y="45593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activities · 校园活动与报名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39800" y="5029200"/>
            <a:ext cx="4902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覆盖学术讲座、文体赛事等全类型活动，集成报名管理、名单统计与详情展示功能，构建校园活动的一站式发布与参与平台。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关键字段：_id, title, organizer, time, location, signupList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159500" y="43815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159500" y="4584700"/>
            <a:ext cx="50800" cy="304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337300" y="45593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campus_map · 校园地理信息库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37300" y="5029200"/>
            <a:ext cx="4902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构建校园空间数字化底座，收录教学楼、图书馆、宿舍、食堂等场所的坐标与详情，为校内导航、场所查询及智能推荐提供空间数据支撑。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关键字段：_id, name, type, coordinates, description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334000"/>
            <a:ext cx="1905000" cy="1905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核心功能展示：课表查询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683000" y="1841500"/>
            <a:ext cx="77470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683000" y="18415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0500" y="20955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635500" y="1968500"/>
            <a:ext cx="666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灵活创建，快速生成专属课表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支持一键导入教务系统课表，也可手动添加临时讲座或自习安排，无需繁琐操作即可快速生成个性化学习日历，轻松管理每日行程。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683000" y="3365500"/>
            <a:ext cx="77470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683000" y="33655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00500" y="3619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635500" y="3492500"/>
            <a:ext cx="666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多视图切换，课程安排一目了然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提供「今日聚焦</a:t>
            </a: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」「</a:t>
            </a:r>
            <a:r>
              <a:rPr lang="en-US" sz="14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本周概览</a:t>
            </a: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」「</a:t>
            </a:r>
            <a:r>
              <a:rPr lang="en-US" sz="14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网格矩阵」三种展示模式，可按需切换查看维度，无论是单天详情还是整周规划，都能清晰直观地掌握</a:t>
            </a: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3683000" y="4889500"/>
            <a:ext cx="77470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3683000" y="48895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00500" y="51435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635500" y="5016500"/>
            <a:ext cx="666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智能课前提醒，告别迟到风险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系统会在课程开始前15分钟，通过微信服务通知自动推送提醒，贴心守护你的上课节奏，再也不用担心因忘记时间而错过重要课程。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F18DCD5-9CA0-9D68-5F9B-2664C01AC1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449" y="1270000"/>
            <a:ext cx="3141983" cy="52487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715000"/>
            <a:ext cx="1905000" cy="1905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核心功能展示：活动发布与报名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5318022"/>
            <a:ext cx="431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打破校园活动信息传递的时空壁垒，将线上发布、智能匹配与线下签到无缝衔接，让每一场精彩都能被看见、被参与</a:t>
            </a: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5588000" y="17780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20066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413500" y="1968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便捷发布 · 高效触达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13500" y="23876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社团负责人可快速创建活动，自定义时间、地点与报名条件，发布后即刻在平台首页与用户端同步更新，告别传统宣传的滞后性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5588000" y="48895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2000" y="51181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413500" y="5080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一键报名 · 智能签到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54991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支持用户线上一键锁定名额，活动现场提供二维码快速签到功能，系统自动统计报名及到场数据，生成可视化报表，减轻组织负担。</a:t>
            </a:r>
            <a:endParaRPr lang="en-US" sz="110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7F3DC76-0366-7F55-968C-8A7C4210F4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0" y="1123950"/>
            <a:ext cx="2579635" cy="43810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-1016000"/>
            <a:ext cx="2540000" cy="2540000"/>
          </a:xfrm>
          <a:prstGeom prst="ellipse">
            <a:avLst/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核心功能展示：校园导航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4874" r="4875"/>
          <a:stretch>
            <a:fillRect/>
          </a:stretch>
        </p:blipFill>
        <p:spPr>
          <a:xfrm>
            <a:off x="762000" y="1778000"/>
            <a:ext cx="5080000" cy="3175000"/>
          </a:xfrm>
          <a:prstGeom prst="roundRect">
            <a:avLst>
              <a:gd name="adj" fmla="val 48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5207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实景级地图渲染，打造校园内的“活地图”，</a:t>
            </a:r>
            <a:b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让每一次出行都清晰从容。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778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校园内的“专属导航专家”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2667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50000" y="2667000"/>
            <a:ext cx="508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8448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27940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高精度地图可视化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基于专业地图SDK构建校园底图，精准还原楼宇分布、道路走向与景观设施，实现校园环境的全景式数字复刻。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350000" y="38735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350000" y="3873500"/>
            <a:ext cx="508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40513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12000" y="40005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智能关键词检索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支持教学楼、食堂、图书馆等多场景关键词模糊搜索，毫秒级响应，快速锁定目标地点，告别盲目寻找。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350000" y="5080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350000" y="5080000"/>
            <a:ext cx="508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52578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52070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动态路径规划与导航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智能计算最优步行路线，提供实时语音引导，精准规避施工路段与障碍，让校园出行高效无忧。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核心功能展示：AI智能问答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7x24小时的校园向导，随时随地为你答疑解惑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842000" y="2286000"/>
            <a:ext cx="5842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5200" y="26289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629400" y="24130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自然语言交互，沟通零门槛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支持口语化、模糊化提问，无需复杂指令。无论是询问办事流程还是校园设施，都能像与同学聊天一样自然，快速获取精准答复。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842000" y="3683000"/>
            <a:ext cx="5842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5200" y="40259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629400" y="38100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知识库+大模型，精准又智能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深度融合校内权威知识库与通用大模型能力。既保证校园政策、通知的绝对准确，又具备强大的语义理解与推理能力，从容应对各类咨询。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842000" y="5080000"/>
            <a:ext cx="5842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5200" y="54229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629400" y="52070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多轮上下文理解，越聊越懂你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具备记忆与推理能力，支持连续追问和话题延展。即使问题表述不完整，也能主动引导补充信息，提供连贯、符合逻辑的对话体验。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79D3D38-4DD0-18BE-5C95-DB2FDD228F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3214" y="1905000"/>
            <a:ext cx="2688324" cy="46094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1905000" cy="1905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测试与结果：测试概述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78200" cy="3810000"/>
          </a:xfrm>
          <a:prstGeom prst="roundRect">
            <a:avLst>
              <a:gd name="adj" fmla="val 0"/>
            </a:avLst>
          </a:prstGeom>
          <a:solidFill>
            <a:srgbClr val="22C55E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828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057400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功能测试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Functional Testing</a:t>
            </a:r>
          </a:p>
        </p:txBody>
      </p:sp>
      <p:cxnSp>
        <p:nvCxnSpPr>
          <p:cNvPr id="9" name="Connector 9"/>
          <p:cNvCxnSpPr/>
          <p:nvPr/>
        </p:nvCxnSpPr>
        <p:spPr>
          <a:xfrm rot="-15211">
            <a:off x="10160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048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测试方法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编写覆盖核心功能点的详细测试用例，采用黑盒测试方法逐一验证，确保功能逻辑无遗漏、无错误。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43815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测试结果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核心功能模块全部通过验证，交互流程顺畅无卡顿，所有业务场景均按预期稳定运行，无严重Bug。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406900" y="1778000"/>
            <a:ext cx="3378200" cy="3810000"/>
          </a:xfrm>
          <a:prstGeom prst="roundRect">
            <a:avLst>
              <a:gd name="adj" fmla="val 0"/>
            </a:avLst>
          </a:prstGeom>
          <a:solidFill>
            <a:srgbClr val="22C55E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406900" y="1778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900" y="20828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68900" y="2057400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兼容性测试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Compatibility Testing</a:t>
            </a:r>
          </a:p>
        </p:txBody>
      </p:sp>
      <p:cxnSp>
        <p:nvCxnSpPr>
          <p:cNvPr id="16" name="Connector 16"/>
          <p:cNvCxnSpPr/>
          <p:nvPr/>
        </p:nvCxnSpPr>
        <p:spPr>
          <a:xfrm rot="-15211">
            <a:off x="46609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660900" y="3048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测试方法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覆盖主流品牌手机与多系统版本环境，进行真机安装与操作测试，全面验证不同设备的适配性与稳定性。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660900" y="43815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测试结果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在不同分辨率、系统版本下界面渲染正常，功能表现高度一致，无适配异常、闪退或显示错乱等问题。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051800" y="1778000"/>
            <a:ext cx="3378200" cy="3810000"/>
          </a:xfrm>
          <a:prstGeom prst="roundRect">
            <a:avLst>
              <a:gd name="adj" fmla="val 0"/>
            </a:avLst>
          </a:prstGeom>
          <a:solidFill>
            <a:srgbClr val="22C55E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051800" y="1778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05800" y="20828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813800" y="2057400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性能测试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Performance Testing</a:t>
            </a:r>
          </a:p>
        </p:txBody>
      </p:sp>
      <p:cxnSp>
        <p:nvCxnSpPr>
          <p:cNvPr id="23" name="Connector 23"/>
          <p:cNvCxnSpPr/>
          <p:nvPr/>
        </p:nvCxnSpPr>
        <p:spPr>
          <a:xfrm rot="-15211">
            <a:off x="83058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305800" y="3048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测试方法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利用专业开发者工具与性能分析仪，对应用启动速度、页面加载、资源占用及响应时间等指标进行全维度检测。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8305800" y="43815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测试结果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应用首次启动时间&lt;1.5秒，页面平均加载时间&lt;1秒，运行过程中内存占用稳定，流畅度与响应速度均达标。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总结：经过多维度的严格测试，项目在功能完整性、环境兼容性与运行性能上均达到预期标准，为上线交付奠定了坚实的质量基础。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762000"/>
            <a:ext cx="2540000" cy="2540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508000" y="5715000"/>
            <a:ext cx="1524000" cy="1524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测试与结果：Bug修复与优化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73200" y="203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布局渲染异常修复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2597150"/>
            <a:ext cx="2870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940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课表数据在部分低端机型上出现元素重叠、排版错乱的显示异常。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7465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根因：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旧版Flex布局在低版本小程序内核中存在计算偏差，自适应失效。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修复：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重构WXSS样式，改用百分比布局兜底，并增加机型兼容性适配层。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4069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900" y="2032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18100" y="203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高并发接口优化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60914" y="2597150"/>
            <a:ext cx="2870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60900" y="27940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AI问答接口在用户访问高峰期频繁出现响应超时，服务可用性下降。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60900" y="37465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根因：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缺乏缓存机制导致重复计算，且未配置合理的接口熔断与重试策略。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修复：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引入Redis缓存热点问答，设置5秒超时阈值及指数退避重试机制。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0518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05800" y="2032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203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数据实时同步升级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305814" y="2597150"/>
            <a:ext cx="2870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05800" y="27940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活动报名人数统计需手动刷新页面才能更新，数据延迟影响用户决策。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05800" y="37465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根因：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前端仅在页面初始化时拉取静态数据，无后端数据变更的主动推送。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修复：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部署数据库监听(Change Stream)，通过WebSocket实现数据秒级推送。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62000" y="5651500"/>
            <a:ext cx="10668000" cy="8128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016000" y="58166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优化成果：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经过针对性修复，系统核心功能可用性提升至99.9%，接口响应速度平均提升40%，用户操作流畅度与数据实时性得到根本性改善，彻底解决了测试阶段发现的核心体验痛点。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06 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 · 沉淀与收获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ap="flat" cmpd="sng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2225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技术深耕：全栈能力进阶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6416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熟练掌握微信小程序原生开发与云开发全栈模式，深度实践AI接口调用与前后端协同，完成从技术选型到落地的全流程技术沉淀。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ap="flat" cmpd="sng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35560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746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7465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团队协同：协作效能提升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24000" y="41656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在需求分析、技术文档撰写与跨角色沟通中积累经验，强化团队问题拆解与攻坚能力，形成高效协同的开发闭环。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ap="flat" cmpd="sng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270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52705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成果落地：模式验证成功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524000" y="56896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项目按期上线并投入小范围试运行，用户反馈积极，成功验证了产品模式的可行性与技术方案的稳定性。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1397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 · 探索与进阶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2032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ap="flat" cmpd="sng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350000" y="20320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2222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12000" y="22225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功能深化：场景体验升级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112000" y="26416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深度对接教务系统实现数据实时同步，新增校园社交互动与社群功能，探索AR实景导航等创新场景，丰富产品使用维度。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3556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ap="flat" cmpd="sng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350000" y="35560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37465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112000" y="37465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技术优化：性能智能升级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112000" y="41656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引入多级缓存机制提升系统响应速度，持续优化AI模型推理效率与精度，完善异常监控体系，保障高并发场景稳定性。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350000" y="5080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ap="flat" cmpd="sng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350000" y="50800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4000" y="5270500"/>
            <a:ext cx="406400" cy="4064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112000" y="52705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生态扩展：开放互联共建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112000" y="56896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开放平台标准API接口，对接校园物联网设备实现智慧联动，联合第三方服务商共建多元化的校园服务生态闭环。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1549</Words>
  <Application>Microsoft Office PowerPoint</Application>
  <PresentationFormat>宽屏</PresentationFormat>
  <Paragraphs>240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MELICE</dc:creator>
  <cp:lastModifiedBy>璟轩 林</cp:lastModifiedBy>
  <cp:revision>7</cp:revision>
  <dcterms:modified xsi:type="dcterms:W3CDTF">2026-07-03T12:14:29Z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{"Label":"1","ContentProducer":"001191110102MACQD9K64010000","ProduceID":"7658268819547524052","ReservedCode1":"","ContentPropagator":"","PropagateID":"","ReservedCode2":""}</vt:lpwstr>
  </property>
</Properties>
</file>